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3" name="Shape 103"/>
          <p:cNvSpPr/>
          <p:nvPr>
            <p:ph type="sldImg"/>
          </p:nvPr>
        </p:nvSpPr>
        <p:spPr>
          <a:xfrm>
            <a:off x="1143000" y="685800"/>
            <a:ext cx="4572000" cy="3429000"/>
          </a:xfrm>
          <a:prstGeom prst="rect">
            <a:avLst/>
          </a:prstGeom>
        </p:spPr>
        <p:txBody>
          <a:bodyPr/>
          <a:lstStyle/>
          <a:p>
            <a:pPr/>
          </a:p>
        </p:txBody>
      </p:sp>
      <p:sp>
        <p:nvSpPr>
          <p:cNvPr id="104" name="Shape 10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11" name="Title Text"/>
          <p:cNvSpPr txBox="1"/>
          <p:nvPr>
            <p:ph type="title"/>
          </p:nvPr>
        </p:nvSpPr>
        <p:spPr>
          <a:prstGeom prst="rect">
            <a:avLst/>
          </a:prstGeom>
        </p:spPr>
        <p:txBody>
          <a:bodyPr/>
          <a:lstStyle/>
          <a:p>
            <a:pPr/>
            <a:r>
              <a:t>Title Text</a:t>
            </a:r>
          </a:p>
        </p:txBody>
      </p:sp>
      <p:sp>
        <p:nvSpPr>
          <p:cNvPr id="1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21" name="Body Level One…"/>
          <p:cNvSpPr txBox="1"/>
          <p:nvPr>
            <p:ph type="body" sz="quarter" idx="1"/>
          </p:nvPr>
        </p:nvSpPr>
        <p:spPr>
          <a:xfrm>
            <a:off x="831850" y="4589462"/>
            <a:ext cx="10515600" cy="1500188"/>
          </a:xfrm>
          <a:prstGeom prst="rect">
            <a:avLst/>
          </a:prstGeom>
        </p:spPr>
        <p:txBody>
          <a:bodyPr/>
          <a:lstStyle>
            <a:lvl1pPr marL="228600" indent="0">
              <a:buClrTx/>
              <a:buSzTx/>
              <a:buFontTx/>
              <a:buNone/>
              <a:defRPr sz="2400">
                <a:solidFill>
                  <a:srgbClr val="888888"/>
                </a:solidFill>
              </a:defRPr>
            </a:lvl1pPr>
            <a:lvl2pPr marL="228600" indent="457200">
              <a:buClrTx/>
              <a:buSzTx/>
              <a:buFontTx/>
              <a:buNone/>
              <a:defRPr sz="2400">
                <a:solidFill>
                  <a:srgbClr val="888888"/>
                </a:solidFill>
              </a:defRPr>
            </a:lvl2pPr>
            <a:lvl3pPr marL="228600" indent="914400">
              <a:buClrTx/>
              <a:buSzTx/>
              <a:buFontTx/>
              <a:buNone/>
              <a:defRPr sz="2400">
                <a:solidFill>
                  <a:srgbClr val="888888"/>
                </a:solidFill>
              </a:defRPr>
            </a:lvl3pPr>
            <a:lvl4pPr marL="228600" indent="1371600">
              <a:buClrTx/>
              <a:buSzTx/>
              <a:buFontTx/>
              <a:buNone/>
              <a:defRPr sz="2400">
                <a:solidFill>
                  <a:srgbClr val="888888"/>
                </a:solidFill>
              </a:defRPr>
            </a:lvl4pPr>
            <a:lvl5pPr marL="228600" indent="1828800">
              <a:buClrTx/>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29" name="Title Text"/>
          <p:cNvSpPr txBox="1"/>
          <p:nvPr>
            <p:ph type="title"/>
          </p:nvPr>
        </p:nvSpPr>
        <p:spPr>
          <a:prstGeom prst="rect">
            <a:avLst/>
          </a:prstGeom>
        </p:spPr>
        <p:txBody>
          <a:bodyPr/>
          <a:lstStyle/>
          <a:p>
            <a:pPr/>
            <a:r>
              <a:t>Title Text</a:t>
            </a:r>
          </a:p>
        </p:txBody>
      </p:sp>
      <p:sp>
        <p:nvSpPr>
          <p:cNvPr id="30"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1" name="Google Shape;32;p25"/>
          <p:cNvSpPr txBox="1"/>
          <p:nvPr>
            <p:ph type="body" sz="half" idx="21"/>
          </p:nvPr>
        </p:nvSpPr>
        <p:spPr>
          <a:xfrm>
            <a:off x="6172200" y="1825625"/>
            <a:ext cx="5181600" cy="4351338"/>
          </a:xfrm>
          <a:prstGeom prst="rect">
            <a:avLst/>
          </a:prstGeom>
        </p:spPr>
        <p:txBody>
          <a:bodyPr/>
          <a:lstStyle/>
          <a:p>
            <a:pP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39" name="Title Text"/>
          <p:cNvSpPr txBox="1"/>
          <p:nvPr>
            <p:ph type="title"/>
          </p:nvPr>
        </p:nvSpPr>
        <p:spPr>
          <a:xfrm>
            <a:off x="839787" y="365125"/>
            <a:ext cx="10515601" cy="1325563"/>
          </a:xfrm>
          <a:prstGeom prst="rect">
            <a:avLst/>
          </a:prstGeom>
        </p:spPr>
        <p:txBody>
          <a:bodyPr/>
          <a:lstStyle/>
          <a:p>
            <a:pPr/>
            <a:r>
              <a:t>Title Text</a:t>
            </a:r>
          </a:p>
        </p:txBody>
      </p:sp>
      <p:sp>
        <p:nvSpPr>
          <p:cNvPr id="40" name="Body Level One…"/>
          <p:cNvSpPr txBox="1"/>
          <p:nvPr>
            <p:ph type="body" sz="quarter" idx="1"/>
          </p:nvPr>
        </p:nvSpPr>
        <p:spPr>
          <a:xfrm>
            <a:off x="839787" y="1681163"/>
            <a:ext cx="5157789" cy="823913"/>
          </a:xfrm>
          <a:prstGeom prst="rect">
            <a:avLst/>
          </a:prstGeom>
        </p:spPr>
        <p:txBody>
          <a:bodyPr anchor="b"/>
          <a:lstStyle>
            <a:lvl1pPr marL="228600" indent="0">
              <a:buClrTx/>
              <a:buSzTx/>
              <a:buFontTx/>
              <a:buNone/>
              <a:defRPr b="1" sz="2400"/>
            </a:lvl1pPr>
            <a:lvl2pPr marL="228600" indent="457200">
              <a:buClrTx/>
              <a:buSzTx/>
              <a:buFontTx/>
              <a:buNone/>
              <a:defRPr b="1" sz="2400"/>
            </a:lvl2pPr>
            <a:lvl3pPr marL="228600" indent="914400">
              <a:buClrTx/>
              <a:buSzTx/>
              <a:buFontTx/>
              <a:buNone/>
              <a:defRPr b="1" sz="2400"/>
            </a:lvl3pPr>
            <a:lvl4pPr marL="228600" indent="1371600">
              <a:buClrTx/>
              <a:buSzTx/>
              <a:buFontTx/>
              <a:buNone/>
              <a:defRPr b="1" sz="2400"/>
            </a:lvl4pPr>
            <a:lvl5pPr marL="228600" indent="1828800">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1" name="Google Shape;39;p26"/>
          <p:cNvSpPr txBox="1"/>
          <p:nvPr>
            <p:ph type="body" sz="half" idx="21"/>
          </p:nvPr>
        </p:nvSpPr>
        <p:spPr>
          <a:xfrm>
            <a:off x="839787" y="2505075"/>
            <a:ext cx="5157788" cy="3684588"/>
          </a:xfrm>
          <a:prstGeom prst="rect">
            <a:avLst/>
          </a:prstGeom>
        </p:spPr>
        <p:txBody>
          <a:bodyPr/>
          <a:lstStyle/>
          <a:p>
            <a:pPr/>
          </a:p>
        </p:txBody>
      </p:sp>
      <p:sp>
        <p:nvSpPr>
          <p:cNvPr id="42" name="Google Shape;40;p26"/>
          <p:cNvSpPr txBox="1"/>
          <p:nvPr>
            <p:ph type="body" sz="quarter" idx="22"/>
          </p:nvPr>
        </p:nvSpPr>
        <p:spPr>
          <a:xfrm>
            <a:off x="6172200" y="1681163"/>
            <a:ext cx="5183188" cy="823913"/>
          </a:xfrm>
          <a:prstGeom prst="rect">
            <a:avLst/>
          </a:prstGeom>
        </p:spPr>
        <p:txBody>
          <a:bodyPr anchor="b"/>
          <a:lstStyle/>
          <a:p>
            <a:pPr marL="228600" indent="0">
              <a:buClrTx/>
              <a:buSzTx/>
              <a:buFontTx/>
              <a:buNone/>
              <a:defRPr b="1" sz="2400"/>
            </a:pPr>
          </a:p>
        </p:txBody>
      </p:sp>
      <p:sp>
        <p:nvSpPr>
          <p:cNvPr id="43" name="Google Shape;41;p26"/>
          <p:cNvSpPr txBox="1"/>
          <p:nvPr>
            <p:ph type="body" sz="half" idx="23"/>
          </p:nvPr>
        </p:nvSpPr>
        <p:spPr>
          <a:xfrm>
            <a:off x="6172200" y="2505075"/>
            <a:ext cx="5183188" cy="3684588"/>
          </a:xfrm>
          <a:prstGeom prst="rect">
            <a:avLst/>
          </a:prstGeom>
        </p:spPr>
        <p:txBody>
          <a:bodyPr/>
          <a:lstStyle/>
          <a:p>
            <a:pPr/>
          </a:p>
        </p:txBody>
      </p:sp>
      <p:sp>
        <p:nvSpPr>
          <p:cNvPr id="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51" name="Title Text"/>
          <p:cNvSpPr txBox="1"/>
          <p:nvPr>
            <p:ph type="title"/>
          </p:nvPr>
        </p:nvSpPr>
        <p:spPr>
          <a:prstGeom prst="rect">
            <a:avLst/>
          </a:prstGeom>
        </p:spPr>
        <p:txBody>
          <a:bodyPr/>
          <a:lstStyle/>
          <a:p>
            <a:pPr/>
            <a:r>
              <a:t>Title Text</a:t>
            </a:r>
          </a:p>
        </p:txBody>
      </p:sp>
      <p:sp>
        <p:nvSpPr>
          <p:cNvPr id="5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66"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67" name="Body Level One…"/>
          <p:cNvSpPr txBox="1"/>
          <p:nvPr>
            <p:ph type="body" sz="half" idx="1"/>
          </p:nvPr>
        </p:nvSpPr>
        <p:spPr>
          <a:xfrm>
            <a:off x="5183187" y="987425"/>
            <a:ext cx="6172201" cy="4873625"/>
          </a:xfrm>
          <a:prstGeom prst="rect">
            <a:avLst/>
          </a:prstGeom>
        </p:spPr>
        <p:txBody>
          <a:bodyPr/>
          <a:lstStyle>
            <a:lvl1pPr indent="-431800">
              <a:buSzPts val="3200"/>
              <a:defRPr sz="3200"/>
            </a:lvl1pPr>
            <a:lvl2pPr marL="972457" indent="-464457">
              <a:buSzPts val="3200"/>
              <a:defRPr sz="3200"/>
            </a:lvl2pPr>
            <a:lvl3pPr marL="1498600" indent="-508000">
              <a:buSzPts val="3200"/>
              <a:defRPr sz="3200"/>
            </a:lvl3pPr>
            <a:lvl4pPr marL="2042160" indent="-568960">
              <a:buSzPts val="3200"/>
              <a:defRPr sz="3200"/>
            </a:lvl4pPr>
            <a:lvl5pPr marL="2499360" indent="-568960">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68" name="Google Shape;57;p29"/>
          <p:cNvSpPr txBox="1"/>
          <p:nvPr>
            <p:ph type="body" sz="quarter" idx="21"/>
          </p:nvPr>
        </p:nvSpPr>
        <p:spPr>
          <a:xfrm>
            <a:off x="839787" y="2057400"/>
            <a:ext cx="3932238" cy="3811588"/>
          </a:xfrm>
          <a:prstGeom prst="rect">
            <a:avLst/>
          </a:prstGeom>
        </p:spPr>
        <p:txBody>
          <a:bodyPr/>
          <a:lstStyle/>
          <a:p>
            <a:pPr marL="228600" indent="0">
              <a:buClrTx/>
              <a:buSzTx/>
              <a:buFontTx/>
              <a:buNone/>
              <a:defRPr sz="1600"/>
            </a:pPr>
          </a:p>
        </p:txBody>
      </p:sp>
      <p:sp>
        <p:nvSpPr>
          <p:cNvPr id="6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76"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7" name="Google Shape;63;p30"/>
          <p:cNvSpPr/>
          <p:nvPr>
            <p:ph type="pic" sz="half" idx="21"/>
          </p:nvPr>
        </p:nvSpPr>
        <p:spPr>
          <a:xfrm>
            <a:off x="5183187" y="987425"/>
            <a:ext cx="6172201" cy="4873625"/>
          </a:xfrm>
          <a:prstGeom prst="rect">
            <a:avLst/>
          </a:prstGeom>
        </p:spPr>
        <p:txBody>
          <a:bodyPr lIns="91439" tIns="45719" rIns="91439" bIns="45719">
            <a:noAutofit/>
          </a:bodyPr>
          <a:lstStyle/>
          <a:p>
            <a:pPr/>
          </a:p>
        </p:txBody>
      </p:sp>
      <p:sp>
        <p:nvSpPr>
          <p:cNvPr id="78" name="Body Level One…"/>
          <p:cNvSpPr txBox="1"/>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86" name="Title Text"/>
          <p:cNvSpPr txBox="1"/>
          <p:nvPr>
            <p:ph type="title"/>
          </p:nvPr>
        </p:nvSpPr>
        <p:spPr>
          <a:prstGeom prst="rect">
            <a:avLst/>
          </a:prstGeom>
        </p:spPr>
        <p:txBody>
          <a:bodyPr/>
          <a:lstStyle/>
          <a:p>
            <a:pPr/>
            <a:r>
              <a:t>Title Text</a:t>
            </a:r>
          </a:p>
        </p:txBody>
      </p:sp>
      <p:sp>
        <p:nvSpPr>
          <p:cNvPr id="87" name="Body Level One…"/>
          <p:cNvSpPr txBox="1"/>
          <p:nvPr>
            <p:ph type="body" idx="1"/>
          </p:nvPr>
        </p:nvSpPr>
        <p:spPr>
          <a:xfrm rot="5400000">
            <a:off x="3920330" y="-1256506"/>
            <a:ext cx="4351339" cy="10515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95" name="Title Text"/>
          <p:cNvSpPr txBox="1"/>
          <p:nvPr>
            <p:ph type="title"/>
          </p:nvPr>
        </p:nvSpPr>
        <p:spPr>
          <a:xfrm rot="5400000">
            <a:off x="7133431" y="1956593"/>
            <a:ext cx="5811839" cy="2628901"/>
          </a:xfrm>
          <a:prstGeom prst="rect">
            <a:avLst/>
          </a:prstGeom>
        </p:spPr>
        <p:txBody>
          <a:bodyPr/>
          <a:lstStyle/>
          <a:p>
            <a:pPr/>
            <a:r>
              <a:t>Title Text</a:t>
            </a:r>
          </a:p>
        </p:txBody>
      </p:sp>
      <p:sp>
        <p:nvSpPr>
          <p:cNvPr id="96" name="Body Level One…"/>
          <p:cNvSpPr txBox="1"/>
          <p:nvPr>
            <p:ph type="body" idx="1"/>
          </p:nvPr>
        </p:nvSpPr>
        <p:spPr>
          <a:xfrm rot="5400000">
            <a:off x="1799431" y="-596107"/>
            <a:ext cx="5811838" cy="77343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3429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1pPr>
      <a:lvl2pPr marL="971550" marR="0" indent="-40005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2pPr>
      <a:lvl3pPr marL="1508760" marR="0" indent="-48006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dhruvjaiswal130307@gmail.com" TargetMode="External"/><Relationship Id="rId3" Type="http://schemas.openxmlformats.org/officeDocument/2006/relationships/hyperlink" Target="http://github.com/fazilkhan0786/KIsan_Link_IBM" TargetMode="External"/><Relationship Id="rId4" Type="http://schemas.openxmlformats.org/officeDocument/2006/relationships/hyperlink" Target="http://fazilkhan0786.github.io/KIsan_Link_IBM" TargetMode="External"/><Relationship Id="rId5"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2.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fazilkhan0786/KIsan_Link_IBM" TargetMode="External"/><Relationship Id="rId3" Type="http://schemas.openxmlformats.org/officeDocument/2006/relationships/hyperlink" Target="https://fazilkhan0786.github.io/KIsan_Link_IBM/"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xfrm>
            <a:off x="831850" y="1709738"/>
            <a:ext cx="10515600" cy="2852738"/>
          </a:xfrm>
          <a:prstGeom prst="rect">
            <a:avLst/>
          </a:prstGeom>
        </p:spPr>
        <p:txBody>
          <a:bodyPr/>
          <a:lstStyle/>
          <a:p>
            <a:pPr algn="ctr">
              <a:defRPr b="1" sz="6600"/>
            </a:pPr>
            <a:r>
              <a:t>IBM University Engagement Project Submission</a:t>
            </a:r>
            <a:br/>
          </a:p>
        </p:txBody>
      </p:sp>
      <p:sp>
        <p:nvSpPr>
          <p:cNvPr id="107" name="Text Placeholder 2"/>
          <p:cNvSpPr txBox="1"/>
          <p:nvPr>
            <p:ph type="body" sz="quarter" idx="1"/>
          </p:nvPr>
        </p:nvSpPr>
        <p:spPr>
          <a:xfrm>
            <a:off x="1014730" y="3903662"/>
            <a:ext cx="10515601" cy="1500188"/>
          </a:xfrm>
          <a:prstGeom prst="rect">
            <a:avLst/>
          </a:prstGeom>
        </p:spPr>
        <p:txBody>
          <a:bodyPr/>
          <a:lstStyle>
            <a:lvl1pPr algn="ctr">
              <a:defRPr b="1" i="1"/>
            </a:lvl1pPr>
          </a:lstStyle>
          <a:p>
            <a:pPr/>
            <a:r>
              <a:t>“Exploring the Power of Agentic AI with IBM Granite and LangFlow”</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09" name="Google Shape;96;p2"/>
          <p:cNvGraphicFramePr/>
          <p:nvPr/>
        </p:nvGraphicFramePr>
        <p:xfrm>
          <a:off x="1299257" y="2600314"/>
          <a:ext cx="9995517" cy="21798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94062"/>
                <a:gridCol w="2596251"/>
                <a:gridCol w="2596251"/>
                <a:gridCol w="2596251"/>
              </a:tblGrid>
              <a:tr h="973237">
                <a:tc>
                  <a:txBody>
                    <a:bodyPr/>
                    <a:lstStyle/>
                    <a:p>
                      <a:pPr algn="ctr">
                        <a:defRPr sz="1800"/>
                      </a:pPr>
                      <a:r>
                        <a:rPr>
                          <a:sym typeface="Arial"/>
                        </a:rPr>
                        <a:t>Student Name</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pPr>
                      <a:r>
                        <a:rPr>
                          <a:sym typeface="Arial"/>
                        </a:rPr>
                        <a:t>Recent Passport Photo</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pPr>
                      <a:r>
                        <a:rPr>
                          <a:sym typeface="Arial"/>
                        </a:rPr>
                        <a:t>Email ID </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sym typeface="Arial"/>
                        </a:defRPr>
                      </a:pPr>
                      <a:r>
                        <a:t>Mobile number</a:t>
                      </a:r>
                    </a:p>
                    <a:p>
                      <a:pPr algn="ctr">
                        <a:defRPr sz="1800">
                          <a:sym typeface="Arial"/>
                        </a:defRPr>
                      </a:pPr>
                      <a:r>
                        <a:t>[WhatsApp] </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r>
              <a:tr h="1193891">
                <a:tc>
                  <a:txBody>
                    <a:bodyPr/>
                    <a:lstStyle/>
                    <a:p>
                      <a:pPr algn="l">
                        <a:defRPr sz="1800"/>
                      </a:pPr>
                      <a:r>
                        <a:rPr>
                          <a:sym typeface="Arial"/>
                        </a:rPr>
                        <a:t>Jaiswal Dhruv</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400">
                          <a:sym typeface="Arial"/>
                        </a:defRPr>
                      </a:pP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800">
                          <a:sym typeface="Arial"/>
                        </a:defRPr>
                      </a:pPr>
                      <a:r>
                        <a:rPr u="sng">
                          <a:solidFill>
                            <a:srgbClr val="0563C1"/>
                          </a:solidFill>
                          <a:uFill>
                            <a:solidFill>
                              <a:srgbClr val="0563C1"/>
                            </a:solidFill>
                          </a:uFill>
                          <a:hlinkClick r:id="rId2" invalidUrl="" action="" tgtFrame="" tooltip="" history="1" highlightClick="0" endSnd="0"/>
                        </a:rPr>
                        <a:t>dhruvjaiswal130307@gmail.com</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800"/>
                      </a:pPr>
                      <a:r>
                        <a:rPr>
                          <a:sym typeface="Arial"/>
                        </a:rPr>
                        <a:t>8128413241</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r>
            </a:tbl>
          </a:graphicData>
        </a:graphic>
      </p:graphicFrame>
      <p:sp>
        <p:nvSpPr>
          <p:cNvPr id="110" name="TextBox 3"/>
          <p:cNvSpPr txBox="1"/>
          <p:nvPr/>
        </p:nvSpPr>
        <p:spPr>
          <a:xfrm>
            <a:off x="1251884" y="1460724"/>
            <a:ext cx="10188814" cy="4370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Domain of  Project : </a:t>
            </a:r>
            <a:r>
              <a:rPr b="0">
                <a:solidFill>
                  <a:srgbClr val="002060"/>
                </a:solidFill>
              </a:rPr>
              <a:t>Economic Development (Agriculture Market Linkage)</a:t>
            </a:r>
          </a:p>
        </p:txBody>
      </p:sp>
      <p:sp>
        <p:nvSpPr>
          <p:cNvPr id="111" name="TextBox 6"/>
          <p:cNvSpPr txBox="1"/>
          <p:nvPr/>
        </p:nvSpPr>
        <p:spPr>
          <a:xfrm>
            <a:off x="1251881" y="551965"/>
            <a:ext cx="9489738" cy="7926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Project Title : </a:t>
            </a:r>
            <a:r>
              <a:rPr b="0">
                <a:solidFill>
                  <a:srgbClr val="002060"/>
                </a:solidFill>
              </a:rPr>
              <a:t>KisanLink – AI-Powered Cotton &amp; Groundnut Market Linkage Platform</a:t>
            </a:r>
          </a:p>
        </p:txBody>
      </p:sp>
      <p:sp>
        <p:nvSpPr>
          <p:cNvPr id="112" name="TextBox 2"/>
          <p:cNvSpPr txBox="1"/>
          <p:nvPr/>
        </p:nvSpPr>
        <p:spPr>
          <a:xfrm>
            <a:off x="1256724" y="5210666"/>
            <a:ext cx="6365304" cy="14174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800">
                <a:solidFill>
                  <a:srgbClr val="002060"/>
                </a:solidFill>
              </a:defRPr>
            </a:pPr>
            <a:r>
              <a:t>GitHub Repository:</a:t>
            </a:r>
            <a:br/>
            <a:r>
              <a:rPr u="sng">
                <a:solidFill>
                  <a:srgbClr val="0563C1"/>
                </a:solidFill>
                <a:uFill>
                  <a:solidFill>
                    <a:srgbClr val="0563C1"/>
                  </a:solidFill>
                </a:uFill>
                <a:hlinkClick r:id="rId3" invalidUrl="" action="" tgtFrame="" tooltip="" history="1" highlightClick="0" endSnd="0"/>
              </a:rPr>
              <a:t>github.com/fazilkhan0786/KIsan_Link_IBM</a:t>
            </a:r>
            <a:r>
              <a:rPr b="0">
                <a:solidFill>
                  <a:srgbClr val="000000"/>
                </a:solidFill>
              </a:rPr>
              <a:t> </a:t>
            </a:r>
            <a:endParaRPr b="0">
              <a:solidFill>
                <a:srgbClr val="000000"/>
              </a:solidFill>
            </a:endParaRPr>
          </a:p>
          <a:p>
            <a:pPr>
              <a:defRPr b="1" sz="1800">
                <a:solidFill>
                  <a:srgbClr val="002060"/>
                </a:solidFill>
              </a:defRPr>
            </a:pPr>
            <a:endParaRPr b="0">
              <a:solidFill>
                <a:srgbClr val="000000"/>
              </a:solidFill>
            </a:endParaRPr>
          </a:p>
          <a:p>
            <a:pPr>
              <a:defRPr b="1" sz="1800">
                <a:solidFill>
                  <a:srgbClr val="002060"/>
                </a:solidFill>
              </a:defRPr>
            </a:pPr>
            <a:r>
              <a:t>Live Demo:</a:t>
            </a:r>
            <a:br/>
            <a:r>
              <a:rPr u="sng">
                <a:solidFill>
                  <a:srgbClr val="0563C1"/>
                </a:solidFill>
                <a:uFill>
                  <a:solidFill>
                    <a:srgbClr val="0563C1"/>
                  </a:solidFill>
                </a:uFill>
                <a:hlinkClick r:id="rId4" invalidUrl="" action="" tgtFrame="" tooltip="" history="1" highlightClick="0" endSnd="0"/>
              </a:rPr>
              <a:t>fazilkhan0786.github.io/KIsan_Link_IBM</a:t>
            </a:r>
            <a:r>
              <a:rPr b="0">
                <a:solidFill>
                  <a:srgbClr val="000000"/>
                </a:solidFill>
              </a:rPr>
              <a:t> </a:t>
            </a:r>
          </a:p>
        </p:txBody>
      </p:sp>
      <p:pic>
        <p:nvPicPr>
          <p:cNvPr id="113" name="pasted-movie.heic" descr="pasted-movie.heic"/>
          <p:cNvPicPr>
            <a:picLocks noChangeAspect="1"/>
          </p:cNvPicPr>
          <p:nvPr/>
        </p:nvPicPr>
        <p:blipFill>
          <a:blip r:embed="rId5">
            <a:extLst/>
          </a:blip>
          <a:srcRect l="0" t="7883" r="0" b="7883"/>
          <a:stretch>
            <a:fillRect/>
          </a:stretch>
        </p:blipFill>
        <p:spPr>
          <a:xfrm>
            <a:off x="4286126" y="3649355"/>
            <a:ext cx="949003" cy="1054847"/>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extBox 1"/>
          <p:cNvSpPr txBox="1"/>
          <p:nvPr/>
        </p:nvSpPr>
        <p:spPr>
          <a:xfrm>
            <a:off x="621791" y="1234439"/>
            <a:ext cx="10515601" cy="55720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pPr>
            <a:r>
              <a:t>Problem Statement : AI-Powered Cotton &amp; Groundnut Market Linkage Platform</a:t>
            </a:r>
            <a:r>
              <a:rPr b="0"/>
              <a:t> </a:t>
            </a:r>
            <a:endParaRPr b="0"/>
          </a:p>
          <a:p>
            <a:pPr/>
          </a:p>
          <a:p>
            <a:pPr>
              <a:defRPr b="1"/>
            </a:pPr>
            <a:r>
              <a:t>The Challenge</a:t>
            </a:r>
            <a:r>
              <a:rPr b="0"/>
              <a:t> </a:t>
            </a:r>
            <a:endParaRPr b="0"/>
          </a:p>
          <a:p>
            <a:pPr/>
            <a:r>
              <a:t>Gujarat is one of India's leading producers of cotton and groundnut, yet farmers frequently face </a:t>
            </a:r>
            <a:r>
              <a:rPr b="1"/>
              <a:t>price exploitation by middlemen</a:t>
            </a:r>
            <a:r>
              <a:t>, lack access to real-time mandi prices, and have </a:t>
            </a:r>
            <a:r>
              <a:rPr b="1"/>
              <a:t>limited bargaining power</a:t>
            </a:r>
            <a:r>
              <a:t> in direct market linkages. Without transparent, real-time price data, most farmers sell in distress, well below the fair modal price, with little visibility into when to sell, when to hold, or which buyer offers the best deal. </a:t>
            </a:r>
          </a:p>
          <a:p>
            <a:pPr/>
          </a:p>
          <a:p>
            <a:pPr>
              <a:defRPr b="1"/>
            </a:pPr>
            <a:r>
              <a:t>The Objective</a:t>
            </a:r>
            <a:r>
              <a:rPr b="0"/>
              <a:t> </a:t>
            </a:r>
            <a:endParaRPr b="0"/>
          </a:p>
          <a:p>
            <a:pPr/>
            <a:r>
              <a:t>Build an </a:t>
            </a:r>
            <a:r>
              <a:rPr b="1"/>
              <a:t>Agentic AI-powered Market Linkage Platform</a:t>
            </a:r>
            <a:r>
              <a:t> that gives cotton and groundnut farmers </a:t>
            </a:r>
            <a:r>
              <a:rPr b="1"/>
              <a:t>real-time price intelligence, sell-or-hold advisory, and direct buyer access</a:t>
            </a:r>
            <a:r>
              <a:t>. The solution should: </a:t>
            </a:r>
          </a:p>
          <a:p>
            <a:pPr marL="285750" indent="-285750">
              <a:buClr>
                <a:srgbClr val="000000"/>
              </a:buClr>
              <a:buSzPct val="100000"/>
              <a:buFont typeface="Arial"/>
              <a:buChar char="•"/>
              <a:defRPr b="1"/>
            </a:pPr>
            <a:r>
              <a:t>Real-Time Mandi Price Intelligence</a:t>
            </a:r>
            <a:r>
              <a:rPr b="0"/>
              <a:t> – Track live APMC modal prices and 7-day price trends for cotton and groundnut across Saurashtra mandis. </a:t>
            </a:r>
            <a:endParaRPr b="0"/>
          </a:p>
          <a:p>
            <a:pPr marL="285750" indent="-285750">
              <a:buClr>
                <a:srgbClr val="000000"/>
              </a:buClr>
              <a:buSzPct val="100000"/>
              <a:buFont typeface="Arial"/>
              <a:buChar char="•"/>
              <a:defRPr b="1"/>
            </a:pPr>
            <a:r>
              <a:t>AI Sell-or-Hold Advisory</a:t>
            </a:r>
            <a:r>
              <a:rPr b="0"/>
              <a:t> – Recommend the best time to sell using Granite-powered reasoning over arrivals, demand, and price momentum. </a:t>
            </a:r>
            <a:endParaRPr b="0"/>
          </a:p>
          <a:p>
            <a:pPr marL="285750" indent="-285750">
              <a:buClr>
                <a:srgbClr val="000000"/>
              </a:buClr>
              <a:buSzPct val="100000"/>
              <a:buFont typeface="Arial"/>
              <a:buChar char="•"/>
              <a:defRPr b="1"/>
            </a:pPr>
            <a:r>
              <a:t>Direct Buyer-Farmer Matching</a:t>
            </a:r>
            <a:r>
              <a:rPr b="0"/>
              <a:t> – Connect farmers directly with verified mills and buyers, eliminating middleman commission. </a:t>
            </a:r>
            <a:endParaRPr b="0"/>
          </a:p>
          <a:p>
            <a:pPr marL="285750" indent="-285750">
              <a:buClr>
                <a:srgbClr val="000000"/>
              </a:buClr>
              <a:buSzPct val="100000"/>
              <a:buFont typeface="Arial"/>
              <a:buChar char="•"/>
              <a:defRPr b="1"/>
            </a:pPr>
            <a:r>
              <a:t>Storage &amp; Selling Timing Guidance</a:t>
            </a:r>
            <a:r>
              <a:rPr b="0"/>
              <a:t> – Help farmers decide whether to store or sell immediately based on price forecasts. </a:t>
            </a:r>
            <a:endParaRPr b="0"/>
          </a:p>
          <a:p>
            <a:pPr marL="285750" indent="-285750">
              <a:buClr>
                <a:srgbClr val="000000"/>
              </a:buClr>
              <a:buSzPct val="100000"/>
              <a:buFont typeface="Arial"/>
              <a:buChar char="•"/>
              <a:defRPr b="1"/>
            </a:pPr>
            <a:r>
              <a:t>Multi-Agent System</a:t>
            </a:r>
            <a:r>
              <a:rPr b="0"/>
              <a:t> – </a:t>
            </a:r>
            <a:endParaRPr b="0"/>
          </a:p>
          <a:p>
            <a:pPr marL="285750" indent="-285750">
              <a:buClr>
                <a:srgbClr val="000000"/>
              </a:buClr>
              <a:buSzPct val="100000"/>
              <a:buFont typeface="Arial"/>
              <a:buChar char="•"/>
              <a:defRPr b="1"/>
            </a:pPr>
            <a:r>
              <a:t>Mandi Price Forecasting Agent</a:t>
            </a:r>
            <a:r>
              <a:rPr b="0"/>
              <a:t> (live and historical APMC price tracking) </a:t>
            </a:r>
            <a:endParaRPr b="0"/>
          </a:p>
          <a:p>
            <a:pPr marL="285750" indent="-285750">
              <a:buClr>
                <a:srgbClr val="000000"/>
              </a:buClr>
              <a:buSzPct val="100000"/>
              <a:buFont typeface="Arial"/>
              <a:buChar char="•"/>
              <a:defRPr b="1"/>
            </a:pPr>
            <a:r>
              <a:t>Direct Buyer-Farmer Matching Agent</a:t>
            </a:r>
            <a:r>
              <a:rPr b="0"/>
              <a:t> (verified mill/buyer connections) </a:t>
            </a:r>
            <a:endParaRPr b="0"/>
          </a:p>
          <a:p>
            <a:pPr marL="285750" indent="-285750">
              <a:buClr>
                <a:srgbClr val="000000"/>
              </a:buClr>
              <a:buSzPct val="100000"/>
              <a:buFont typeface="Arial"/>
              <a:buChar char="•"/>
              <a:defRPr b="1"/>
            </a:pPr>
            <a:r>
              <a:t>Storage &amp; Selling Timing Advisor Agent</a:t>
            </a:r>
            <a:r>
              <a:rPr b="0"/>
              <a:t> (sell-or-hold recommendation) </a:t>
            </a:r>
            <a:endParaRPr b="0"/>
          </a:p>
          <a:p>
            <a:pPr marL="285750" indent="-285750">
              <a:buClr>
                <a:srgbClr val="000000"/>
              </a:buClr>
              <a:buSzPct val="100000"/>
              <a:buFont typeface="Arial"/>
              <a:buChar char="•"/>
              <a:defRPr b="1"/>
            </a:pPr>
            <a:r>
              <a:t>Quality Grading Assistance Agent</a:t>
            </a:r>
            <a:r>
              <a:rPr b="0"/>
              <a:t> (crop quality inputs for fair pricing) </a:t>
            </a:r>
            <a:endParaRPr b="0"/>
          </a:p>
          <a:p>
            <a:pPr marL="285750" indent="-285750">
              <a:buClr>
                <a:srgbClr val="000000"/>
              </a:buClr>
              <a:buSzPct val="100000"/>
              <a:buFont typeface="Arial"/>
              <a:buChar char="•"/>
              <a:defRPr b="1"/>
            </a:pPr>
            <a:r>
              <a:t>Farmer Income Dashboard Agent</a:t>
            </a:r>
            <a:r>
              <a:rPr b="0"/>
              <a:t> (tracks earnings gained vs. middleman route) </a:t>
            </a:r>
            <a:endParaRPr b="0"/>
          </a:p>
          <a:p>
            <a:pPr marL="285750" indent="-285750">
              <a:buClr>
                <a:srgbClr val="000000"/>
              </a:buClr>
              <a:buSzPct val="100000"/>
              <a:buFont typeface="Arial"/>
              <a:buChar char="•"/>
              <a:defRPr b="1"/>
            </a:pPr>
            <a:r>
              <a:t>Farmer Income Dashboard</a:t>
            </a:r>
            <a:r>
              <a:rPr b="0"/>
              <a:t> – Show a side-by-side comparison of income earned via the middleman route versus a direct KisanLink sale. </a:t>
            </a:r>
            <a:endParaRPr b="0"/>
          </a:p>
          <a:p>
            <a:pPr/>
          </a:p>
        </p:txBody>
      </p:sp>
      <p:sp>
        <p:nvSpPr>
          <p:cNvPr id="116" name="TextBox 2"/>
          <p:cNvSpPr txBox="1"/>
          <p:nvPr/>
        </p:nvSpPr>
        <p:spPr>
          <a:xfrm>
            <a:off x="621791" y="704087"/>
            <a:ext cx="712317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Problem Statement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Box 1"/>
          <p:cNvSpPr txBox="1"/>
          <p:nvPr/>
        </p:nvSpPr>
        <p:spPr>
          <a:xfrm>
            <a:off x="621791" y="1234439"/>
            <a:ext cx="10515601" cy="49624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pPr>
          </a:p>
          <a:p>
            <a:pPr>
              <a:defRPr b="1"/>
            </a:pPr>
            <a:r>
              <a:t>Proposed Solution: KisanLink – AI-Powered Cotton &amp; Groundnut Market Linkage Platform</a:t>
            </a:r>
          </a:p>
          <a:p>
            <a:pPr/>
            <a:r>
              <a:t>The proposed solution is a </a:t>
            </a:r>
            <a:r>
              <a:rPr b="1"/>
              <a:t>multi-agent AI-powered market linkage platform</a:t>
            </a:r>
            <a:r>
              <a:t> built using </a:t>
            </a:r>
            <a:r>
              <a:rPr b="1"/>
              <a:t>LangFlow, IBM watsonx.ai, and Granite Models</a:t>
            </a:r>
            <a:r>
              <a:t> to give cotton and groundnut farmers real-time price transparency and direct buyer access. The system addresses price exploitation, delayed price discovery, and weak bargaining power through an intelligent, modular architecture.</a:t>
            </a:r>
          </a:p>
          <a:p>
            <a:pPr/>
            <a:r>
              <a:t>At its core, the solution uses a </a:t>
            </a:r>
            <a:r>
              <a:rPr b="1"/>
              <a:t>Retrieval-Augmented Generation (RAG)</a:t>
            </a:r>
            <a:r>
              <a:t> pipeline to fetch live APMC/mandi price data and historical trends for cotton and groundnut across Saurashtra districts. This data is embedded and stored in a vector database, enabling the system to retrieve and reason over price patterns using Granite models.</a:t>
            </a:r>
          </a:p>
          <a:p>
            <a:pPr/>
          </a:p>
          <a:p>
            <a:pPr/>
            <a:r>
              <a:t>The system consists of key agents:</a:t>
            </a:r>
          </a:p>
          <a:p>
            <a:pPr>
              <a:defRPr b="1"/>
            </a:pPr>
            <a:r>
              <a:t>Mandi Price Forecasting Agent</a:t>
            </a:r>
            <a:r>
              <a:rPr b="0"/>
              <a:t> fetches and tracks live and historical APMC modal prices. </a:t>
            </a:r>
            <a:endParaRPr b="0"/>
          </a:p>
          <a:p>
            <a:pPr>
              <a:defRPr b="1"/>
            </a:pPr>
            <a:r>
              <a:t>Sell/Hold Advisory Agent</a:t>
            </a:r>
            <a:r>
              <a:rPr b="0"/>
              <a:t> recommends the best selling window based on arrivals, demand, and price momentum. </a:t>
            </a:r>
            <a:endParaRPr b="0"/>
          </a:p>
          <a:p>
            <a:pPr>
              <a:defRPr b="1"/>
            </a:pPr>
            <a:r>
              <a:t>Direct Buyer-Farmer Matching Agent</a:t>
            </a:r>
            <a:r>
              <a:rPr b="0"/>
              <a:t> connects farmers to verified mills, removing middleman commission and unfair weighing losses. </a:t>
            </a:r>
            <a:endParaRPr b="0"/>
          </a:p>
          <a:p>
            <a:pPr>
              <a:defRPr b="1"/>
            </a:pPr>
            <a:r>
              <a:t>Farmer Income Dashboard Agent</a:t>
            </a:r>
            <a:r>
              <a:rPr b="0"/>
              <a:t> tracks and visualizes earnings gained versus the traditional middleman route. </a:t>
            </a:r>
            <a:endParaRPr b="0"/>
          </a:p>
          <a:p>
            <a:pPr/>
            <a:r>
              <a:t>The solution includes a </a:t>
            </a:r>
            <a:r>
              <a:rPr b="1"/>
              <a:t>farmer-friendly dashboard</a:t>
            </a:r>
            <a:r>
              <a:t> (built with HTML/JS on the frontend) that shows live mandi prices, 7-day price trends, sell-or-hold advice, verified buyers, and a real-time income impact calculator.</a:t>
            </a:r>
          </a:p>
          <a:p>
            <a:pPr/>
          </a:p>
          <a:p>
            <a:pPr/>
            <a:r>
              <a:t>LangFlow is used to orchestrate agent workflows, while watsonx.ai ensures scalable model deployment, embeddings, and AI governance. Granite models power reasoning, price advisory, and personalization.</a:t>
            </a:r>
          </a:p>
          <a:p>
            <a:pPr/>
            <a:r>
              <a:t>Overall, this solution delivers an </a:t>
            </a:r>
            <a:r>
              <a:rPr b="1"/>
              <a:t>end-to-end market linkage assistant</a:t>
            </a:r>
            <a:r>
              <a:t> that puts fair, transparent pricing and direct buyer access in the hands of every cotton and groundnut farmer in Gujarat.</a:t>
            </a:r>
          </a:p>
          <a:p>
            <a:pPr/>
          </a:p>
        </p:txBody>
      </p:sp>
      <p:sp>
        <p:nvSpPr>
          <p:cNvPr id="119" name="TextBox 2"/>
          <p:cNvSpPr txBox="1"/>
          <p:nvPr/>
        </p:nvSpPr>
        <p:spPr>
          <a:xfrm>
            <a:off x="621791" y="704087"/>
            <a:ext cx="712317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Proposed Solution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extBox 1"/>
          <p:cNvSpPr txBox="1"/>
          <p:nvPr/>
        </p:nvSpPr>
        <p:spPr>
          <a:xfrm>
            <a:off x="822959" y="484631"/>
            <a:ext cx="703173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Technology Used</a:t>
            </a:r>
          </a:p>
        </p:txBody>
      </p:sp>
      <p:sp>
        <p:nvSpPr>
          <p:cNvPr id="122" name="TextBox 2"/>
          <p:cNvSpPr txBox="1"/>
          <p:nvPr/>
        </p:nvSpPr>
        <p:spPr>
          <a:xfrm>
            <a:off x="822960" y="1207007"/>
            <a:ext cx="10424160" cy="55593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Clr>
                <a:srgbClr val="000000"/>
              </a:buClr>
              <a:buSzPct val="100000"/>
              <a:buFont typeface="Arial"/>
              <a:buChar char="•"/>
              <a:defRPr b="1" sz="1800"/>
            </a:pPr>
            <a:r>
              <a:t>Langflow platform </a:t>
            </a:r>
            <a:r>
              <a:rPr b="0"/>
              <a:t>-For designing and orchestrating multi-agent workflows visually</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IBM Granite model </a:t>
            </a:r>
            <a:r>
              <a:rPr b="0"/>
              <a:t>-  for eg – ibm-granite-3-2-8b – For natural language understanding, reasoning, and personalization</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IBM Cloud </a:t>
            </a:r>
            <a:r>
              <a:rPr b="0"/>
              <a:t>– It provides the infrastructure to build, deploy, and scale the KisanLink agents efficiently. IBM Cloud enables a </a:t>
            </a:r>
            <a:r>
              <a:t>reliable, secure, and scalable environment</a:t>
            </a:r>
            <a:r>
              <a:rPr b="0"/>
              <a:t> for deploying the KisanLink market linkage agents.</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RAG– </a:t>
            </a:r>
            <a:r>
              <a:rPr b="0"/>
              <a:t>RAG to </a:t>
            </a:r>
            <a:r>
              <a:t>fetch real data first, then generate intelligent answers</a:t>
            </a:r>
            <a:r>
              <a:rPr b="0"/>
              <a:t>, making mandi price and buyer information more trustworthy and effective.</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IBM Watsonx.ai - </a:t>
            </a:r>
            <a:r>
              <a:rPr b="0"/>
              <a:t>For model deployment, embeddings, and AI governance</a:t>
            </a:r>
            <a:endParaRPr b="0"/>
          </a:p>
          <a:p>
            <a:pPr marL="285750" indent="-285750">
              <a:buClr>
                <a:srgbClr val="000000"/>
              </a:buClr>
              <a:buSzPct val="100000"/>
              <a:buFont typeface="Arial"/>
              <a:buChar char="•"/>
              <a:defRPr sz="1800"/>
            </a:pPr>
          </a:p>
          <a:p>
            <a:pPr marL="285750" indent="-285750">
              <a:buClr>
                <a:srgbClr val="000000"/>
              </a:buClr>
              <a:buSzPct val="100000"/>
              <a:buFont typeface="Arial"/>
              <a:buChar char="•"/>
              <a:defRPr b="1" sz="1800"/>
            </a:pPr>
            <a:r>
              <a:t>Vector Database </a:t>
            </a:r>
            <a:r>
              <a:rPr b="0"/>
              <a:t>(FAISS/Chroma) – For RAG-based retrieval of APMC price history and market data</a:t>
            </a:r>
          </a:p>
          <a:p>
            <a:pPr marL="285750" indent="-285750">
              <a:buClr>
                <a:srgbClr val="000000"/>
              </a:buClr>
              <a:buSzPct val="100000"/>
              <a:buFont typeface="Arial"/>
              <a:buChar char="•"/>
              <a:defRPr sz="1800"/>
            </a:pPr>
          </a:p>
          <a:p>
            <a:pPr marL="285750" indent="-285750">
              <a:buClr>
                <a:srgbClr val="000000"/>
              </a:buClr>
              <a:buSzPct val="100000"/>
              <a:buFont typeface="Arial"/>
              <a:buChar char="•"/>
              <a:defRPr sz="1800"/>
            </a:pPr>
          </a:p>
          <a:p>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Google Shape;135;p5"/>
          <p:cNvSpPr txBox="1"/>
          <p:nvPr/>
        </p:nvSpPr>
        <p:spPr>
          <a:xfrm>
            <a:off x="537589" y="323238"/>
            <a:ext cx="5908931" cy="4891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400"/>
            </a:pPr>
            <a:r>
              <a:t>Langflow</a:t>
            </a:r>
            <a:r>
              <a:rPr sz="3500">
                <a:solidFill>
                  <a:srgbClr val="051D3A"/>
                </a:solidFill>
                <a:latin typeface="Times New Roman"/>
                <a:ea typeface="Times New Roman"/>
                <a:cs typeface="Times New Roman"/>
                <a:sym typeface="Times New Roman"/>
              </a:rPr>
              <a:t> </a:t>
            </a:r>
            <a:r>
              <a:t>component Used -</a:t>
            </a:r>
          </a:p>
        </p:txBody>
      </p:sp>
      <p:sp>
        <p:nvSpPr>
          <p:cNvPr id="125" name="TextBox 1"/>
          <p:cNvSpPr txBox="1"/>
          <p:nvPr/>
        </p:nvSpPr>
        <p:spPr>
          <a:xfrm>
            <a:off x="520542" y="939386"/>
            <a:ext cx="9550070" cy="51656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p>
          <a:p>
            <a:pPr>
              <a:defRPr b="1"/>
            </a:pPr>
            <a:r>
              <a:t>1) Chat Input </a:t>
            </a:r>
            <a:r>
              <a:rPr b="0"/>
              <a:t>– Interface where the farmer enters queries such as crop, district, and quantity to check prices or get sell/hold advice.</a:t>
            </a:r>
            <a:endParaRPr b="0"/>
          </a:p>
          <a:p>
            <a:pPr/>
          </a:p>
          <a:p>
            <a:pPr>
              <a:defRPr b="1"/>
            </a:pPr>
            <a:r>
              <a:t>2) IBM watsonx AI Agent </a:t>
            </a:r>
            <a:r>
              <a:rPr b="0"/>
              <a:t>- Processes mandi price data using Granite models to generate sell-or-hold advisory and income insights. </a:t>
            </a:r>
            <a:endParaRPr b="0"/>
          </a:p>
          <a:p>
            <a:pPr/>
          </a:p>
          <a:p>
            <a:pPr>
              <a:defRPr b="1"/>
            </a:pPr>
            <a:r>
              <a:t>3) Name of IBM Granite model - </a:t>
            </a:r>
            <a:r>
              <a:rPr b="0"/>
              <a:t>Granite-13B → Fast, efficient reasoning for real-time price advisory</a:t>
            </a:r>
            <a:endParaRPr b="0"/>
          </a:p>
          <a:p>
            <a:pPr/>
          </a:p>
          <a:p>
            <a:pPr>
              <a:defRPr b="1"/>
            </a:pPr>
            <a:r>
              <a:t>4) Chat output -</a:t>
            </a:r>
            <a:r>
              <a:rPr b="0"/>
              <a:t>Displays AI-generated responses such as sell/hold recommendation, matched buyers, and income impact. </a:t>
            </a:r>
            <a:endParaRPr b="0"/>
          </a:p>
          <a:p>
            <a:pPr/>
          </a:p>
          <a:p>
            <a:pPr>
              <a:defRPr b="1"/>
            </a:pPr>
            <a:r>
              <a:t>5) File component - </a:t>
            </a:r>
            <a:r>
              <a:rPr b="0"/>
              <a:t>Stores and retrieves live APMC price data, verified buyer records, and farmer income history for analysis and tracking.</a:t>
            </a:r>
            <a:endParaRPr b="0"/>
          </a:p>
          <a:p>
            <a:pPr/>
          </a:p>
          <a:p>
            <a:pPr/>
          </a:p>
          <a:p>
            <a:pPr/>
            <a:r>
              <a:t>6) API/Tool component – Fetches live Agmarknet/APMC mandi price feeds for Saurashtra districts.</a:t>
            </a:r>
          </a:p>
          <a:p>
            <a:pPr marL="342900" indent="-342900">
              <a:buClr>
                <a:srgbClr val="000000"/>
              </a:buClr>
              <a:buSzPct val="100000"/>
              <a:buAutoNum type="arabicParenR" startAt="3"/>
            </a:pPr>
          </a:p>
          <a:p>
            <a:pPr/>
          </a:p>
          <a:p>
            <a:pPr/>
          </a:p>
          <a:p>
            <a:pPr/>
          </a:p>
          <a:p>
            <a:pPr/>
          </a:p>
          <a:p>
            <a:pPr/>
          </a:p>
          <a:p>
            <a:pPr/>
          </a:p>
          <a:p>
            <a:pPr/>
            <a:r>
              <a:t>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7" name="6BB3A4C4-490B-4A7B-B23A-94E842EB6D9E.PNG" descr="6BB3A4C4-490B-4A7B-B23A-94E842EB6D9E.PNG"/>
          <p:cNvPicPr>
            <a:picLocks noChangeAspect="1"/>
          </p:cNvPicPr>
          <p:nvPr/>
        </p:nvPicPr>
        <p:blipFill>
          <a:blip r:embed="rId2">
            <a:extLst/>
          </a:blip>
          <a:stretch>
            <a:fillRect/>
          </a:stretch>
        </p:blipFill>
        <p:spPr>
          <a:xfrm>
            <a:off x="0" y="381000"/>
            <a:ext cx="12192000" cy="60960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9" name="09F5F803-DE56-4EF3-95AF-EFD702F2A516.PNG" descr="09F5F803-DE56-4EF3-95AF-EFD702F2A516.PNG"/>
          <p:cNvPicPr>
            <a:picLocks noChangeAspect="1"/>
          </p:cNvPicPr>
          <p:nvPr/>
        </p:nvPicPr>
        <p:blipFill>
          <a:blip r:embed="rId2">
            <a:extLst/>
          </a:blip>
          <a:stretch>
            <a:fillRect/>
          </a:stretch>
        </p:blipFill>
        <p:spPr>
          <a:xfrm>
            <a:off x="0" y="381000"/>
            <a:ext cx="12192000" cy="6096000"/>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1" name="Google Shape;196;p9" descr="Google Shape;196;p9"/>
          <p:cNvPicPr>
            <a:picLocks noChangeAspect="1"/>
          </p:cNvPicPr>
          <p:nvPr/>
        </p:nvPicPr>
        <p:blipFill>
          <a:blip r:embed="rId2">
            <a:extLst/>
          </a:blip>
          <a:stretch>
            <a:fillRect/>
          </a:stretch>
        </p:blipFill>
        <p:spPr>
          <a:xfrm>
            <a:off x="8371985" y="1167492"/>
            <a:ext cx="3015344" cy="4523015"/>
          </a:xfrm>
          <a:prstGeom prst="rect">
            <a:avLst/>
          </a:prstGeom>
          <a:ln w="12700">
            <a:miter lim="400000"/>
          </a:ln>
        </p:spPr>
      </p:pic>
      <p:sp>
        <p:nvSpPr>
          <p:cNvPr id="132" name="TextBox 1"/>
          <p:cNvSpPr txBox="1"/>
          <p:nvPr/>
        </p:nvSpPr>
        <p:spPr>
          <a:xfrm>
            <a:off x="521208" y="283463"/>
            <a:ext cx="9226296" cy="5480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vl1pPr>
          </a:lstStyle>
          <a:p>
            <a:pPr/>
            <a:r>
              <a:t>Role of Agentic AI in the solution </a:t>
            </a:r>
          </a:p>
        </p:txBody>
      </p:sp>
      <p:sp>
        <p:nvSpPr>
          <p:cNvPr id="133" name="TextBox 2"/>
          <p:cNvSpPr txBox="1"/>
          <p:nvPr/>
        </p:nvSpPr>
        <p:spPr>
          <a:xfrm>
            <a:off x="667511" y="1167492"/>
            <a:ext cx="7315201" cy="39464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pPr>
            <a:r>
              <a:t>Role of Agentic AI in KisanLink</a:t>
            </a:r>
          </a:p>
          <a:p>
            <a:pPr>
              <a:defRPr b="1"/>
            </a:pPr>
          </a:p>
          <a:p>
            <a:pPr>
              <a:defRPr b="1"/>
            </a:pPr>
            <a:r>
              <a:t>Agentic AI</a:t>
            </a:r>
            <a:r>
              <a:rPr b="0"/>
              <a:t> enables KisanLink to function as an intelligent, autonomous market advisor rather than a simple price lookup app. Using </a:t>
            </a:r>
            <a:r>
              <a:t>IBM watsonx.ai</a:t>
            </a:r>
            <a:r>
              <a:rPr b="0"/>
              <a:t> and </a:t>
            </a:r>
            <a:r>
              <a:t>IBM Granite models</a:t>
            </a:r>
            <a:r>
              <a:rPr b="0"/>
              <a:t>, it coordinates multiple specialized agents to deliver a complete sell-or-hold decision, not just a raw price.</a:t>
            </a:r>
            <a:endParaRPr b="0"/>
          </a:p>
          <a:p>
            <a:pPr>
              <a:defRPr b="1"/>
            </a:pPr>
            <a:endParaRPr b="0"/>
          </a:p>
          <a:p>
            <a:pPr/>
            <a:r>
              <a:t>Each agent performs a specific role—such as tracking mandi prices, forecasting demand, matching verified buyers, and calculating income impact—while working collaboratively. This </a:t>
            </a:r>
            <a:r>
              <a:rPr b="1"/>
              <a:t>multi-agent approach</a:t>
            </a:r>
            <a:r>
              <a:t> ensures accurate, trustworthy advisory for every farmer query.</a:t>
            </a:r>
          </a:p>
          <a:p>
            <a:pPr/>
            <a:r>
              <a:t>Agentic AI also brings </a:t>
            </a:r>
            <a:r>
              <a:rPr b="1"/>
              <a:t>context awareness</a:t>
            </a:r>
            <a:r>
              <a:t>, understanding the farmer's crop, district, and quantity to generate tailored advice. It supports </a:t>
            </a:r>
            <a:r>
              <a:rPr b="1"/>
              <a:t>real-time adaptation</a:t>
            </a:r>
            <a:r>
              <a:t>, continuously updating recommendations as APMC arrivals and mill demand change.</a:t>
            </a:r>
          </a:p>
          <a:p>
            <a:pPr/>
          </a:p>
          <a:p>
            <a:pPr/>
            <a:r>
              <a:t>Additionally, agents communicate with each other, enabling better decision-making and higher-confidence sell/hold outcomes.</a:t>
            </a:r>
          </a:p>
          <a:p>
            <a:pPr/>
          </a:p>
          <a:p>
            <a:pPr/>
            <a:r>
              <a:t>Overall, Agentic AI makes the system proactive, personalized, and goal-driven, acting like a </a:t>
            </a:r>
            <a:r>
              <a:rPr b="1"/>
              <a:t>trusted digital market advisor</a:t>
            </a:r>
            <a:r>
              <a:t> that helps every farmer earn a fairer price.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Google Shape;278;p18"/>
          <p:cNvSpPr txBox="1"/>
          <p:nvPr/>
        </p:nvSpPr>
        <p:spPr>
          <a:xfrm>
            <a:off x="793191" y="341559"/>
            <a:ext cx="6444498" cy="3456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Token Usage </a:t>
            </a:r>
          </a:p>
        </p:txBody>
      </p:sp>
      <p:sp>
        <p:nvSpPr>
          <p:cNvPr id="136" name="Google Shape;280;p18"/>
          <p:cNvSpPr txBox="1"/>
          <p:nvPr/>
        </p:nvSpPr>
        <p:spPr>
          <a:xfrm>
            <a:off x="1218724" y="3360215"/>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37" name="Google Shape;281;p18"/>
          <p:cNvSpPr txBox="1"/>
          <p:nvPr/>
        </p:nvSpPr>
        <p:spPr>
          <a:xfrm>
            <a:off x="1218724" y="439546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38" name="Google Shape;282;p18"/>
          <p:cNvSpPr txBox="1"/>
          <p:nvPr/>
        </p:nvSpPr>
        <p:spPr>
          <a:xfrm>
            <a:off x="1218724" y="543071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39" name="TextBox 13"/>
          <p:cNvSpPr txBox="1"/>
          <p:nvPr/>
        </p:nvSpPr>
        <p:spPr>
          <a:xfrm>
            <a:off x="1883805" y="854467"/>
            <a:ext cx="2651760"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000" u="sng"/>
            </a:lvl1pPr>
          </a:lstStyle>
          <a:p>
            <a:pPr/>
            <a:r>
              <a:t>Before Prompt</a:t>
            </a:r>
          </a:p>
        </p:txBody>
      </p:sp>
      <p:sp>
        <p:nvSpPr>
          <p:cNvPr id="140" name="TextBox 14"/>
          <p:cNvSpPr txBox="1"/>
          <p:nvPr/>
        </p:nvSpPr>
        <p:spPr>
          <a:xfrm>
            <a:off x="8045676" y="854467"/>
            <a:ext cx="2651760"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000" u="sng"/>
            </a:lvl1pPr>
          </a:lstStyle>
          <a:p>
            <a:pPr/>
            <a:r>
              <a:t>After the Prompt</a:t>
            </a:r>
          </a:p>
        </p:txBody>
      </p:sp>
      <p:pic>
        <p:nvPicPr>
          <p:cNvPr id="141" name="pasted-movie.png" descr="pasted-movie.png"/>
          <p:cNvPicPr>
            <a:picLocks noChangeAspect="1"/>
          </p:cNvPicPr>
          <p:nvPr/>
        </p:nvPicPr>
        <p:blipFill>
          <a:blip r:embed="rId2">
            <a:extLst/>
          </a:blip>
          <a:stretch>
            <a:fillRect/>
          </a:stretch>
        </p:blipFill>
        <p:spPr>
          <a:xfrm>
            <a:off x="6708805" y="1764781"/>
            <a:ext cx="5325501" cy="3328438"/>
          </a:xfrm>
          <a:prstGeom prst="rect">
            <a:avLst/>
          </a:prstGeom>
          <a:ln w="12700">
            <a:miter lim="400000"/>
          </a:ln>
        </p:spPr>
      </p:pic>
      <p:pic>
        <p:nvPicPr>
          <p:cNvPr id="142" name="pasted-movie.heic" descr="pasted-movie.heic"/>
          <p:cNvPicPr>
            <a:picLocks noChangeAspect="1"/>
          </p:cNvPicPr>
          <p:nvPr/>
        </p:nvPicPr>
        <p:blipFill>
          <a:blip r:embed="rId3">
            <a:extLst/>
          </a:blip>
          <a:stretch>
            <a:fillRect/>
          </a:stretch>
        </p:blipFill>
        <p:spPr>
          <a:xfrm>
            <a:off x="247782" y="1764781"/>
            <a:ext cx="5923806" cy="3328438"/>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TextBox 1"/>
          <p:cNvSpPr txBox="1"/>
          <p:nvPr/>
        </p:nvSpPr>
        <p:spPr>
          <a:xfrm>
            <a:off x="822959" y="484631"/>
            <a:ext cx="703173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Novelty and Uniqueness</a:t>
            </a:r>
          </a:p>
        </p:txBody>
      </p:sp>
      <p:sp>
        <p:nvSpPr>
          <p:cNvPr id="145" name="TextBox 2"/>
          <p:cNvSpPr txBox="1"/>
          <p:nvPr/>
        </p:nvSpPr>
        <p:spPr>
          <a:xfrm>
            <a:off x="822960" y="1207007"/>
            <a:ext cx="11210544" cy="53561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800"/>
            </a:pPr>
            <a:r>
              <a:t>KisanLink stands out by combining </a:t>
            </a:r>
            <a:r>
              <a:rPr b="1"/>
              <a:t>Agentic AI, real-time price data, and direct buyer linkage</a:t>
            </a:r>
            <a:r>
              <a:t> into a single intelligent system.</a:t>
            </a:r>
          </a:p>
          <a:p>
            <a:pPr>
              <a:defRPr sz="1800"/>
            </a:pPr>
          </a:p>
          <a:p>
            <a:pPr>
              <a:defRPr b="1" sz="1800"/>
            </a:pPr>
            <a:r>
              <a:t>Multi-Agent Intelligence</a:t>
            </a:r>
            <a:r>
              <a:rPr b="0"/>
              <a:t> – Instead of a single price-checking app, multiple specialized agents collaborate to deliver accurate and context-aware selling advice. </a:t>
            </a:r>
            <a:endParaRPr b="0"/>
          </a:p>
          <a:p>
            <a:pPr>
              <a:defRPr b="1" sz="1800"/>
            </a:pPr>
            <a:r>
              <a:t>RAG-Based Accuracy</a:t>
            </a:r>
            <a:r>
              <a:rPr b="0"/>
              <a:t> – Integrates real-time APMC data retrieval with AI generation, reducing stale prices and ensuring trustworthy recommendations. </a:t>
            </a:r>
            <a:endParaRPr b="0"/>
          </a:p>
          <a:p>
            <a:pPr>
              <a:defRPr b="1" sz="1800"/>
            </a:pPr>
            <a:r>
              <a:t>Middleman Elimination</a:t>
            </a:r>
            <a:r>
              <a:rPr b="0"/>
              <a:t> – Connects farmers directly to verified mills, removing commission cuts and unfair weighing losses. </a:t>
            </a:r>
            <a:endParaRPr b="0"/>
          </a:p>
          <a:p>
            <a:pPr>
              <a:defRPr b="1" sz="1800"/>
            </a:pPr>
            <a:r>
              <a:t>Real-Time Sell/Hold Loop</a:t>
            </a:r>
            <a:r>
              <a:rPr b="0"/>
              <a:t> – Continuously adapts recommendations based on live mandi arrivals and mill demand. </a:t>
            </a:r>
            <a:endParaRPr b="0"/>
          </a:p>
          <a:p>
            <a:pPr>
              <a:defRPr b="1" sz="1800"/>
            </a:pPr>
            <a:r>
              <a:t>Income Transparency</a:t>
            </a:r>
            <a:r>
              <a:rPr b="0"/>
              <a:t> – A live income impact calculator shows the exact rupee gain from selling via KisanLink versus the middleman route. </a:t>
            </a:r>
            <a:endParaRPr b="0"/>
          </a:p>
          <a:p>
            <a:pPr>
              <a:defRPr b="1" sz="1800"/>
            </a:pPr>
            <a:r>
              <a:t>Multilingual Access</a:t>
            </a:r>
            <a:r>
              <a:rPr b="0"/>
              <a:t> – Built with Gujarati-language support so farmers can use it in their own language. </a:t>
            </a:r>
            <a:endParaRPr b="0"/>
          </a:p>
          <a:p>
            <a:pPr>
              <a:defRPr b="1" sz="1800"/>
            </a:pPr>
            <a:r>
              <a:t>Scalable &amp; Enterprise-Ready</a:t>
            </a:r>
            <a:r>
              <a:rPr b="0"/>
              <a:t> – Built on </a:t>
            </a:r>
            <a:r>
              <a:t>IBM watsonx.ai</a:t>
            </a:r>
            <a:r>
              <a:rPr b="0"/>
              <a:t> with </a:t>
            </a:r>
            <a:r>
              <a:t>IBM Granite models</a:t>
            </a:r>
            <a:r>
              <a:rPr b="0"/>
              <a:t>, ensuring reliability and governance. </a:t>
            </a:r>
            <a:endParaRPr b="0"/>
          </a:p>
          <a:p>
            <a:pPr>
              <a:defRPr sz="1800"/>
            </a:pPr>
          </a:p>
          <a:p>
            <a:pPr>
              <a:defRPr sz="1800"/>
            </a:pPr>
            <a:r>
              <a:t>This makes the solution a </a:t>
            </a:r>
            <a:r>
              <a:rPr b="1"/>
              <a:t>smart, adaptive, and proactive digital market advisor</a:t>
            </a:r>
            <a:r>
              <a:t>, not just a static mandi price display.</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Google Shape;278;p18"/>
          <p:cNvSpPr txBox="1"/>
          <p:nvPr/>
        </p:nvSpPr>
        <p:spPr>
          <a:xfrm>
            <a:off x="1218723" y="420729"/>
            <a:ext cx="6444498"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Git Hub Link</a:t>
            </a:r>
          </a:p>
        </p:txBody>
      </p:sp>
      <p:sp>
        <p:nvSpPr>
          <p:cNvPr id="148" name="Google Shape;279;p18"/>
          <p:cNvSpPr txBox="1"/>
          <p:nvPr/>
        </p:nvSpPr>
        <p:spPr>
          <a:xfrm>
            <a:off x="1218723" y="1153712"/>
            <a:ext cx="9214582" cy="23892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2162"/>
              </a:lnSpc>
              <a:defRPr b="1" sz="1800">
                <a:solidFill>
                  <a:srgbClr val="2B3541"/>
                </a:solidFill>
                <a:latin typeface="Times New Roman"/>
                <a:ea typeface="Times New Roman"/>
                <a:cs typeface="Times New Roman"/>
                <a:sym typeface="Times New Roman"/>
              </a:defRPr>
            </a:pPr>
            <a:r>
              <a:t>GitHub Repository: </a:t>
            </a:r>
            <a:r>
              <a:rPr b="0" u="sng">
                <a:solidFill>
                  <a:srgbClr val="0563C1"/>
                </a:solidFill>
                <a:uFill>
                  <a:solidFill>
                    <a:srgbClr val="0563C1"/>
                  </a:solidFill>
                </a:uFill>
                <a:hlinkClick r:id="rId2" invalidUrl="" action="" tgtFrame="" tooltip="" history="1" highlightClick="0" endSnd="0"/>
              </a:rPr>
              <a:t>https://github.com/fazilkhan0786/KIsan_Link_IBM</a:t>
            </a:r>
          </a:p>
          <a:p>
            <a:pPr>
              <a:lnSpc>
                <a:spcPct val="162162"/>
              </a:lnSpc>
              <a:defRPr b="1" sz="1800">
                <a:solidFill>
                  <a:srgbClr val="2B3541"/>
                </a:solidFill>
                <a:latin typeface="Times New Roman"/>
                <a:ea typeface="Times New Roman"/>
                <a:cs typeface="Times New Roman"/>
                <a:sym typeface="Times New Roman"/>
              </a:defRPr>
            </a:pPr>
            <a:r>
              <a:t>Live Working Demo: </a:t>
            </a:r>
            <a:r>
              <a:rPr b="0" u="sng">
                <a:solidFill>
                  <a:srgbClr val="0563C1"/>
                </a:solidFill>
                <a:uFill>
                  <a:solidFill>
                    <a:srgbClr val="0563C1"/>
                  </a:solidFill>
                </a:uFill>
                <a:hlinkClick r:id="rId3" invalidUrl="" action="" tgtFrame="" tooltip="" history="1" highlightClick="0" endSnd="0"/>
              </a:rPr>
              <a:t>https://fazilkhan0786.github.io/KIsan_Link_IBM/</a:t>
            </a:r>
          </a:p>
          <a:p>
            <a:pPr>
              <a:lnSpc>
                <a:spcPct val="162162"/>
              </a:lnSpc>
              <a:defRPr b="1" sz="1800">
                <a:solidFill>
                  <a:srgbClr val="2B3541"/>
                </a:solidFill>
                <a:latin typeface="Times New Roman"/>
                <a:ea typeface="Times New Roman"/>
                <a:cs typeface="Times New Roman"/>
                <a:sym typeface="Times New Roman"/>
              </a:defRPr>
            </a:pPr>
            <a:r>
              <a:t>Repository contents: </a:t>
            </a:r>
            <a:br/>
            <a:r>
              <a:rPr b="0"/>
              <a:t>1) </a:t>
            </a:r>
            <a:r>
              <a:rPr b="0"/>
              <a:t>Full source code for the KisanLink web app</a:t>
            </a:r>
            <a:r>
              <a:rPr b="0"/>
              <a:t>  2) </a:t>
            </a:r>
            <a:r>
              <a:rPr b="0"/>
              <a:t>KisanLink project presentation (Fazil)(.pdf)</a:t>
            </a:r>
            <a:r>
              <a:rPr b="0"/>
              <a:t>  3) </a:t>
            </a:r>
            <a:r>
              <a:rPr b="0"/>
              <a:t>KisanLink project presentation (Dhruv)(.pdf)</a:t>
            </a:r>
            <a:r>
              <a:rPr b="0"/>
              <a:t> </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Google Shape;278;p18"/>
          <p:cNvSpPr txBox="1"/>
          <p:nvPr/>
        </p:nvSpPr>
        <p:spPr>
          <a:xfrm>
            <a:off x="1218723" y="420729"/>
            <a:ext cx="6444498"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Future Scope </a:t>
            </a:r>
          </a:p>
        </p:txBody>
      </p:sp>
      <p:sp>
        <p:nvSpPr>
          <p:cNvPr id="151" name="Google Shape;279;p18"/>
          <p:cNvSpPr txBox="1"/>
          <p:nvPr/>
        </p:nvSpPr>
        <p:spPr>
          <a:xfrm>
            <a:off x="1218723" y="1221714"/>
            <a:ext cx="9214582" cy="40950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2162"/>
              </a:lnSpc>
              <a:defRPr b="1" sz="1800">
                <a:solidFill>
                  <a:srgbClr val="2B3541"/>
                </a:solidFill>
                <a:latin typeface="Times New Roman"/>
                <a:ea typeface="Times New Roman"/>
                <a:cs typeface="Times New Roman"/>
                <a:sym typeface="Times New Roman"/>
              </a:defRPr>
            </a:pPr>
            <a:r>
              <a:t>1. Weather-Integrated Price Forecasting &amp; Crop Insurance Linkage – </a:t>
            </a:r>
          </a:p>
          <a:p>
            <a:pPr>
              <a:lnSpc>
                <a:spcPct val="162162"/>
              </a:lnSpc>
              <a:defRPr sz="1800">
                <a:solidFill>
                  <a:srgbClr val="2B3541"/>
                </a:solidFill>
                <a:latin typeface="Times New Roman"/>
                <a:ea typeface="Times New Roman"/>
                <a:cs typeface="Times New Roman"/>
                <a:sym typeface="Times New Roman"/>
              </a:defRPr>
            </a:pPr>
            <a:r>
              <a:t>KisanLink can integrate satellite and weather data to predict how rainfall, temperature, and sowing patterns will affect cotton and groundnut arrivals and prices weeks in advance. This will also enable linkage to crop insurance schemes, helping farmers protect their income against weather-related crop damage.</a:t>
            </a:r>
          </a:p>
          <a:p>
            <a:pPr>
              <a:lnSpc>
                <a:spcPct val="162162"/>
              </a:lnSpc>
              <a:defRPr b="1" sz="1800">
                <a:solidFill>
                  <a:srgbClr val="2B3541"/>
                </a:solidFill>
                <a:latin typeface="Times New Roman"/>
                <a:ea typeface="Times New Roman"/>
                <a:cs typeface="Times New Roman"/>
                <a:sym typeface="Times New Roman"/>
              </a:defRPr>
            </a:pPr>
            <a:r>
              <a:t>2.AI-Powered Voice Assistant &amp; Multilingual Support </a:t>
            </a:r>
            <a:r>
              <a:rPr b="0"/>
              <a:t>– </a:t>
            </a:r>
            <a:endParaRPr b="0"/>
          </a:p>
          <a:p>
            <a:pPr>
              <a:lnSpc>
                <a:spcPct val="162162"/>
              </a:lnSpc>
              <a:defRPr sz="1800">
                <a:solidFill>
                  <a:srgbClr val="2B3541"/>
                </a:solidFill>
                <a:latin typeface="Times New Roman"/>
                <a:ea typeface="Times New Roman"/>
                <a:cs typeface="Times New Roman"/>
                <a:sym typeface="Times New Roman"/>
              </a:defRPr>
            </a:pPr>
            <a:r>
              <a:t>Adding a Gujarati and Hindi voice assistant will let farmers with limited literacy check prices and get sell/hold advice by simply speaking into the app, making KisanLink accessible to every farmer, not just smartphone-literate ones. Future versions can also expand to more crops beyond cotton and groundnut, and add blockchain-based payment tracking for full transaction transparency.</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extBox 5"/>
          <p:cNvSpPr txBox="1"/>
          <p:nvPr/>
        </p:nvSpPr>
        <p:spPr>
          <a:xfrm>
            <a:off x="373669" y="207380"/>
            <a:ext cx="6004560" cy="64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Certificates Earned:</a:t>
            </a:r>
          </a:p>
        </p:txBody>
      </p:sp>
      <p:grpSp>
        <p:nvGrpSpPr>
          <p:cNvPr id="156" name="Certificate Placeholder"/>
          <p:cNvGrpSpPr/>
          <p:nvPr/>
        </p:nvGrpSpPr>
        <p:grpSpPr>
          <a:xfrm>
            <a:off x="2335727" y="1212766"/>
            <a:ext cx="7075221" cy="5309261"/>
            <a:chOff x="0" y="0"/>
            <a:chExt cx="7075219" cy="5309259"/>
          </a:xfrm>
        </p:grpSpPr>
        <p:sp>
          <p:nvSpPr>
            <p:cNvPr id="154" name="Rectangle"/>
            <p:cNvSpPr/>
            <p:nvPr/>
          </p:nvSpPr>
          <p:spPr>
            <a:xfrm>
              <a:off x="-1" y="-1"/>
              <a:ext cx="7075221" cy="5309261"/>
            </a:xfrm>
            <a:prstGeom prst="rect">
              <a:avLst/>
            </a:prstGeom>
            <a:solidFill>
              <a:srgbClr val="F2F2F2"/>
            </a:solidFill>
            <a:ln w="19050" cap="flat">
              <a:solidFill>
                <a:srgbClr val="BFBFBF"/>
              </a:solidFill>
              <a:prstDash val="dash"/>
              <a:round/>
            </a:ln>
            <a:effectLst/>
          </p:spPr>
          <p:txBody>
            <a:bodyPr wrap="square" lIns="45719" tIns="45719" rIns="45719" bIns="45719" numCol="1" anchor="ctr">
              <a:noAutofit/>
            </a:bodyPr>
            <a:lstStyle/>
            <a:p>
              <a:pPr algn="ctr"/>
            </a:p>
          </p:txBody>
        </p:sp>
        <p:sp>
          <p:nvSpPr>
            <p:cNvPr id="155" name="[Insert your Credly certificate image here]"/>
            <p:cNvSpPr txBox="1"/>
            <p:nvPr/>
          </p:nvSpPr>
          <p:spPr>
            <a:xfrm>
              <a:off x="55244" y="9524"/>
              <a:ext cx="6964730" cy="52902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rmAutofit fontScale="100000" lnSpcReduction="0"/>
            </a:bodyPr>
            <a:lstStyle>
              <a:lvl1pPr algn="ctr">
                <a:defRPr b="1" sz="1800">
                  <a:solidFill>
                    <a:srgbClr val="FF0000"/>
                  </a:solidFill>
                </a:defRPr>
              </a:lvl1pPr>
            </a:lstStyle>
            <a:p>
              <a:pPr/>
              <a:r>
                <a:t>[Insert your Credly certificate image here]</a:t>
              </a:r>
            </a:p>
          </p:txBody>
        </p:sp>
      </p:grpSp>
      <p:pic>
        <p:nvPicPr>
          <p:cNvPr id="157" name="pasted-movie.heic" descr="pasted-movie.heic"/>
          <p:cNvPicPr>
            <a:picLocks noChangeAspect="1"/>
          </p:cNvPicPr>
          <p:nvPr/>
        </p:nvPicPr>
        <p:blipFill>
          <a:blip r:embed="rId2">
            <a:extLst/>
          </a:blip>
          <a:srcRect l="1019" t="384" r="0" b="3647"/>
          <a:stretch>
            <a:fillRect/>
          </a:stretch>
        </p:blipFill>
        <p:spPr>
          <a:xfrm>
            <a:off x="2174676" y="994154"/>
            <a:ext cx="7410997" cy="5624459"/>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61" name="Certificate Placeholder"/>
          <p:cNvGrpSpPr/>
          <p:nvPr/>
        </p:nvGrpSpPr>
        <p:grpSpPr>
          <a:xfrm>
            <a:off x="2512735" y="1712636"/>
            <a:ext cx="7177555" cy="4658578"/>
            <a:chOff x="0" y="0"/>
            <a:chExt cx="7177553" cy="4658576"/>
          </a:xfrm>
        </p:grpSpPr>
        <p:sp>
          <p:nvSpPr>
            <p:cNvPr id="159" name="Rectangle"/>
            <p:cNvSpPr/>
            <p:nvPr/>
          </p:nvSpPr>
          <p:spPr>
            <a:xfrm>
              <a:off x="-1" y="0"/>
              <a:ext cx="7177555" cy="4658577"/>
            </a:xfrm>
            <a:prstGeom prst="rect">
              <a:avLst/>
            </a:prstGeom>
            <a:solidFill>
              <a:srgbClr val="F2F2F2"/>
            </a:solidFill>
            <a:ln w="19050" cap="flat">
              <a:solidFill>
                <a:srgbClr val="BFBFBF"/>
              </a:solidFill>
              <a:prstDash val="dash"/>
              <a:round/>
            </a:ln>
            <a:effectLst/>
          </p:spPr>
          <p:txBody>
            <a:bodyPr wrap="square" lIns="45719" tIns="45719" rIns="45719" bIns="45719" numCol="1" anchor="ctr">
              <a:noAutofit/>
            </a:bodyPr>
            <a:lstStyle/>
            <a:p>
              <a:pPr algn="ctr"/>
            </a:p>
          </p:txBody>
        </p:sp>
        <p:sp>
          <p:nvSpPr>
            <p:cNvPr id="160" name="[Insert your IBM Bob completion certificate image here]"/>
            <p:cNvSpPr txBox="1"/>
            <p:nvPr/>
          </p:nvSpPr>
          <p:spPr>
            <a:xfrm>
              <a:off x="55244" y="9525"/>
              <a:ext cx="7067065" cy="463952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rmAutofit fontScale="100000" lnSpcReduction="0"/>
            </a:bodyPr>
            <a:lstStyle>
              <a:lvl1pPr algn="ctr">
                <a:defRPr b="1" sz="1800">
                  <a:solidFill>
                    <a:srgbClr val="FF0000"/>
                  </a:solidFill>
                </a:defRPr>
              </a:lvl1pPr>
            </a:lstStyle>
            <a:p>
              <a:pPr/>
              <a:r>
                <a:t>[Insert your IBM Bob completion certificate image here]</a:t>
              </a:r>
            </a:p>
          </p:txBody>
        </p:sp>
      </p:grpSp>
      <p:sp>
        <p:nvSpPr>
          <p:cNvPr id="162" name="TextBox 4"/>
          <p:cNvSpPr txBox="1"/>
          <p:nvPr/>
        </p:nvSpPr>
        <p:spPr>
          <a:xfrm>
            <a:off x="222416" y="226391"/>
            <a:ext cx="6004560" cy="64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Certificates Earned:</a:t>
            </a:r>
            <a:r>
              <a:rPr b="0"/>
              <a:t>​</a:t>
            </a:r>
          </a:p>
        </p:txBody>
      </p:sp>
      <p:pic>
        <p:nvPicPr>
          <p:cNvPr id="163" name="pasted-movie.heic" descr="pasted-movie.heic"/>
          <p:cNvPicPr>
            <a:picLocks noChangeAspect="1"/>
          </p:cNvPicPr>
          <p:nvPr/>
        </p:nvPicPr>
        <p:blipFill>
          <a:blip r:embed="rId2">
            <a:extLst/>
          </a:blip>
          <a:srcRect l="0" t="0" r="6065" b="17560"/>
          <a:stretch>
            <a:fillRect/>
          </a:stretch>
        </p:blipFill>
        <p:spPr>
          <a:xfrm>
            <a:off x="1366639" y="795307"/>
            <a:ext cx="9458718" cy="5825991"/>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5" name="Google Shape;310;p20" descr="Google Shape;310;p20"/>
          <p:cNvPicPr>
            <a:picLocks noChangeAspect="1"/>
          </p:cNvPicPr>
          <p:nvPr/>
        </p:nvPicPr>
        <p:blipFill>
          <a:blip r:embed="rId2">
            <a:extLst/>
          </a:blip>
          <a:stretch>
            <a:fillRect/>
          </a:stretch>
        </p:blipFill>
        <p:spPr>
          <a:xfrm>
            <a:off x="0" y="2190301"/>
            <a:ext cx="12192000" cy="247739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